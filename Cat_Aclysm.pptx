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0" r:id="rId4"/>
    <p:sldId id="258" r:id="rId5"/>
    <p:sldId id="261" r:id="rId6"/>
    <p:sldId id="262" r:id="rId7"/>
    <p:sldId id="259" r:id="rId8"/>
    <p:sldId id="263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102" autoAdjust="0"/>
  </p:normalViewPr>
  <p:slideViewPr>
    <p:cSldViewPr snapToGrid="0" showGuides="1">
      <p:cViewPr varScale="1">
        <p:scale>
          <a:sx n="75" d="100"/>
          <a:sy n="75" d="100"/>
        </p:scale>
        <p:origin x="9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Budget initial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BD9-4AAB-B7FE-B0004FB0D52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BD9-4AAB-B7FE-B0004FB0D52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BD9-4AAB-B7FE-B0004FB0D52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6BD9-4AAB-B7FE-B0004FB0D52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3"/>
                <c:pt idx="0">
                  <c:v>Conception</c:v>
                </c:pt>
                <c:pt idx="1">
                  <c:v>Créat. Pers.</c:v>
                </c:pt>
                <c:pt idx="2">
                  <c:v>Gameplay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638</c:v>
                </c:pt>
                <c:pt idx="1">
                  <c:v>726</c:v>
                </c:pt>
                <c:pt idx="2">
                  <c:v>1580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95-400A-A9E1-D65C31F63F7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 dirty="0"/>
              <a:t>Budget final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Budget initial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5DE-41DC-AEF9-3C2DF3B1FD5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5DE-41DC-AEF9-3C2DF3B1FD5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5DE-41DC-AEF9-3C2DF3B1FD5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85DE-41DC-AEF9-3C2DF3B1FD5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Feuil1!$A$2:$A$5</c:f>
              <c:strCache>
                <c:ptCount val="3"/>
                <c:pt idx="0">
                  <c:v>Conception</c:v>
                </c:pt>
                <c:pt idx="1">
                  <c:v>Créat. Pers.</c:v>
                </c:pt>
                <c:pt idx="2">
                  <c:v>Gameplay</c:v>
                </c:pt>
              </c:strCache>
            </c:strRef>
          </c:cat>
          <c:val>
            <c:numRef>
              <c:f>Feuil1!$B$2:$B$5</c:f>
              <c:numCache>
                <c:formatCode>General</c:formatCode>
                <c:ptCount val="4"/>
                <c:pt idx="0">
                  <c:v>704</c:v>
                </c:pt>
                <c:pt idx="1">
                  <c:v>3298</c:v>
                </c:pt>
                <c:pt idx="2">
                  <c:v>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95-400A-A9E1-D65C31F63F7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legendEntry>
        <c:idx val="3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FD405E-86FA-400C-9F82-482424AD3FD8}" type="doc">
      <dgm:prSet loTypeId="urn:microsoft.com/office/officeart/2008/layout/BendingPictureCaptionList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F22813C-D802-4E76-AD7D-F5BEE006A1FD}">
      <dgm:prSet phldrT="[Texte]"/>
      <dgm:spPr/>
      <dgm:t>
        <a:bodyPr/>
        <a:lstStyle/>
        <a:p>
          <a:r>
            <a:rPr lang="fr-FR" dirty="0"/>
            <a:t>Grégoire de Susanne</a:t>
          </a:r>
        </a:p>
        <a:p>
          <a:r>
            <a:rPr lang="fr-FR" dirty="0"/>
            <a:t>Chef de projet</a:t>
          </a:r>
        </a:p>
      </dgm:t>
    </dgm:pt>
    <dgm:pt modelId="{92C4C88C-6ECE-4966-A5A7-E6FBC5FEE053}" type="parTrans" cxnId="{93B26B71-ACD4-4F37-84C6-6EBD39D07813}">
      <dgm:prSet/>
      <dgm:spPr/>
      <dgm:t>
        <a:bodyPr/>
        <a:lstStyle/>
        <a:p>
          <a:endParaRPr lang="fr-FR"/>
        </a:p>
      </dgm:t>
    </dgm:pt>
    <dgm:pt modelId="{4077535F-C8DE-46FB-ABC2-1E7465FC0998}" type="sibTrans" cxnId="{93B26B71-ACD4-4F37-84C6-6EBD39D07813}">
      <dgm:prSet/>
      <dgm:spPr/>
      <dgm:t>
        <a:bodyPr/>
        <a:lstStyle/>
        <a:p>
          <a:endParaRPr lang="fr-FR"/>
        </a:p>
      </dgm:t>
    </dgm:pt>
    <dgm:pt modelId="{07B75A6F-A4A7-41FC-931C-B0B54D934FBB}">
      <dgm:prSet phldrT="[Texte]"/>
      <dgm:spPr/>
      <dgm:t>
        <a:bodyPr/>
        <a:lstStyle/>
        <a:p>
          <a:r>
            <a:rPr lang="fr-FR" dirty="0"/>
            <a:t>Pierre Debas</a:t>
          </a:r>
        </a:p>
        <a:p>
          <a:r>
            <a:rPr lang="fr-FR" dirty="0"/>
            <a:t>Lead Développeur</a:t>
          </a:r>
        </a:p>
      </dgm:t>
    </dgm:pt>
    <dgm:pt modelId="{57FADAA0-50CF-4162-B0F1-2A0B7E0F8102}" type="parTrans" cxnId="{B4F4BD1C-D44E-4666-B6FA-8AEE381E819D}">
      <dgm:prSet/>
      <dgm:spPr/>
      <dgm:t>
        <a:bodyPr/>
        <a:lstStyle/>
        <a:p>
          <a:endParaRPr lang="fr-FR"/>
        </a:p>
      </dgm:t>
    </dgm:pt>
    <dgm:pt modelId="{899D56B5-A96F-46EF-A526-23BBB0A08F4E}" type="sibTrans" cxnId="{B4F4BD1C-D44E-4666-B6FA-8AEE381E819D}">
      <dgm:prSet/>
      <dgm:spPr/>
      <dgm:t>
        <a:bodyPr/>
        <a:lstStyle/>
        <a:p>
          <a:endParaRPr lang="fr-FR"/>
        </a:p>
      </dgm:t>
    </dgm:pt>
    <dgm:pt modelId="{C6DFA6F3-EDAA-479F-98DE-A2F4160FBC2E}">
      <dgm:prSet phldrT="[Texte]"/>
      <dgm:spPr/>
      <dgm:t>
        <a:bodyPr/>
        <a:lstStyle/>
        <a:p>
          <a:r>
            <a:rPr lang="fr-FR" dirty="0"/>
            <a:t>Vincent Rodriguez</a:t>
          </a:r>
        </a:p>
        <a:p>
          <a:r>
            <a:rPr lang="fr-FR" dirty="0"/>
            <a:t>Game/UX Designer</a:t>
          </a:r>
        </a:p>
      </dgm:t>
    </dgm:pt>
    <dgm:pt modelId="{31C96068-C84E-43A3-87F8-56EE834A0434}" type="parTrans" cxnId="{14570A27-FCDC-43A4-B668-A967DAC724CD}">
      <dgm:prSet/>
      <dgm:spPr/>
      <dgm:t>
        <a:bodyPr/>
        <a:lstStyle/>
        <a:p>
          <a:endParaRPr lang="fr-FR"/>
        </a:p>
      </dgm:t>
    </dgm:pt>
    <dgm:pt modelId="{1C9AF72B-DA80-4FCF-AAAB-DD2A780D3081}" type="sibTrans" cxnId="{14570A27-FCDC-43A4-B668-A967DAC724CD}">
      <dgm:prSet/>
      <dgm:spPr/>
      <dgm:t>
        <a:bodyPr/>
        <a:lstStyle/>
        <a:p>
          <a:endParaRPr lang="fr-FR"/>
        </a:p>
      </dgm:t>
    </dgm:pt>
    <dgm:pt modelId="{C9D5EF52-2461-44BE-BEE5-40572FC66224}" type="pres">
      <dgm:prSet presAssocID="{C2FD405E-86FA-400C-9F82-482424AD3FD8}" presName="Name0" presStyleCnt="0">
        <dgm:presLayoutVars>
          <dgm:dir/>
          <dgm:resizeHandles val="exact"/>
        </dgm:presLayoutVars>
      </dgm:prSet>
      <dgm:spPr/>
    </dgm:pt>
    <dgm:pt modelId="{1B38B62F-EA64-4B00-B7EF-4864070E118F}" type="pres">
      <dgm:prSet presAssocID="{6F22813C-D802-4E76-AD7D-F5BEE006A1FD}" presName="composite" presStyleCnt="0"/>
      <dgm:spPr/>
    </dgm:pt>
    <dgm:pt modelId="{F17EB212-0D99-49FA-A1AB-2A3F4AF95497}" type="pres">
      <dgm:prSet presAssocID="{6F22813C-D802-4E76-AD7D-F5BEE006A1FD}" presName="rect1" presStyleLbl="b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</dgm:spPr>
    </dgm:pt>
    <dgm:pt modelId="{2AB72EED-59CA-461A-B137-736ED2F65C0D}" type="pres">
      <dgm:prSet presAssocID="{6F22813C-D802-4E76-AD7D-F5BEE006A1FD}" presName="wedgeRectCallout1" presStyleLbl="node1" presStyleIdx="0" presStyleCnt="3">
        <dgm:presLayoutVars>
          <dgm:bulletEnabled val="1"/>
        </dgm:presLayoutVars>
      </dgm:prSet>
      <dgm:spPr/>
    </dgm:pt>
    <dgm:pt modelId="{6A1E0C75-A1C4-4EE5-8425-A4FC8407C645}" type="pres">
      <dgm:prSet presAssocID="{4077535F-C8DE-46FB-ABC2-1E7465FC0998}" presName="sibTrans" presStyleCnt="0"/>
      <dgm:spPr/>
    </dgm:pt>
    <dgm:pt modelId="{F89F1E76-0964-4A4F-80CC-D0749F3E2966}" type="pres">
      <dgm:prSet presAssocID="{07B75A6F-A4A7-41FC-931C-B0B54D934FBB}" presName="composite" presStyleCnt="0"/>
      <dgm:spPr/>
    </dgm:pt>
    <dgm:pt modelId="{C90447D3-3A8E-4C59-96F0-B8732FD87233}" type="pres">
      <dgm:prSet presAssocID="{07B75A6F-A4A7-41FC-931C-B0B54D934FBB}" presName="rect1" presStyleLbl="bgImgPlace1" presStyleIdx="1" presStyleCnt="3"/>
      <dgm:spPr>
        <a:blipFill>
          <a:blip xmlns:r="http://schemas.openxmlformats.org/officeDocument/2006/relationships" r:embed="rId2"/>
          <a:srcRect/>
          <a:stretch>
            <a:fillRect l="-3000" r="-3000"/>
          </a:stretch>
        </a:blipFill>
      </dgm:spPr>
    </dgm:pt>
    <dgm:pt modelId="{095D6498-985F-4C46-8A5D-4CCAD436E74F}" type="pres">
      <dgm:prSet presAssocID="{07B75A6F-A4A7-41FC-931C-B0B54D934FBB}" presName="wedgeRectCallout1" presStyleLbl="node1" presStyleIdx="1" presStyleCnt="3">
        <dgm:presLayoutVars>
          <dgm:bulletEnabled val="1"/>
        </dgm:presLayoutVars>
      </dgm:prSet>
      <dgm:spPr/>
    </dgm:pt>
    <dgm:pt modelId="{26D1ACF9-8D21-4FA3-97AC-70B193A965BA}" type="pres">
      <dgm:prSet presAssocID="{899D56B5-A96F-46EF-A526-23BBB0A08F4E}" presName="sibTrans" presStyleCnt="0"/>
      <dgm:spPr/>
    </dgm:pt>
    <dgm:pt modelId="{1E031330-8F19-4E8A-A229-F4DD12558294}" type="pres">
      <dgm:prSet presAssocID="{C6DFA6F3-EDAA-479F-98DE-A2F4160FBC2E}" presName="composite" presStyleCnt="0"/>
      <dgm:spPr/>
    </dgm:pt>
    <dgm:pt modelId="{3D22B7DB-3299-4634-B8BF-B29F1007227A}" type="pres">
      <dgm:prSet presAssocID="{C6DFA6F3-EDAA-479F-98DE-A2F4160FBC2E}" presName="rect1" presStyleLbl="b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</dgm:spPr>
    </dgm:pt>
    <dgm:pt modelId="{460563C9-836E-4789-9F45-E780914EC21A}" type="pres">
      <dgm:prSet presAssocID="{C6DFA6F3-EDAA-479F-98DE-A2F4160FBC2E}" presName="wedgeRectCallout1" presStyleLbl="node1" presStyleIdx="2" presStyleCnt="3">
        <dgm:presLayoutVars>
          <dgm:bulletEnabled val="1"/>
        </dgm:presLayoutVars>
      </dgm:prSet>
      <dgm:spPr/>
    </dgm:pt>
  </dgm:ptLst>
  <dgm:cxnLst>
    <dgm:cxn modelId="{B4F4BD1C-D44E-4666-B6FA-8AEE381E819D}" srcId="{C2FD405E-86FA-400C-9F82-482424AD3FD8}" destId="{07B75A6F-A4A7-41FC-931C-B0B54D934FBB}" srcOrd="1" destOrd="0" parTransId="{57FADAA0-50CF-4162-B0F1-2A0B7E0F8102}" sibTransId="{899D56B5-A96F-46EF-A526-23BBB0A08F4E}"/>
    <dgm:cxn modelId="{FD50971D-0259-4883-82C8-1F64CA0D3AB2}" type="presOf" srcId="{07B75A6F-A4A7-41FC-931C-B0B54D934FBB}" destId="{095D6498-985F-4C46-8A5D-4CCAD436E74F}" srcOrd="0" destOrd="0" presId="urn:microsoft.com/office/officeart/2008/layout/BendingPictureCaptionList"/>
    <dgm:cxn modelId="{14570A27-FCDC-43A4-B668-A967DAC724CD}" srcId="{C2FD405E-86FA-400C-9F82-482424AD3FD8}" destId="{C6DFA6F3-EDAA-479F-98DE-A2F4160FBC2E}" srcOrd="2" destOrd="0" parTransId="{31C96068-C84E-43A3-87F8-56EE834A0434}" sibTransId="{1C9AF72B-DA80-4FCF-AAAB-DD2A780D3081}"/>
    <dgm:cxn modelId="{0FEF0246-0A1C-4513-B83C-3AD282131C4C}" type="presOf" srcId="{6F22813C-D802-4E76-AD7D-F5BEE006A1FD}" destId="{2AB72EED-59CA-461A-B137-736ED2F65C0D}" srcOrd="0" destOrd="0" presId="urn:microsoft.com/office/officeart/2008/layout/BendingPictureCaptionList"/>
    <dgm:cxn modelId="{93B26B71-ACD4-4F37-84C6-6EBD39D07813}" srcId="{C2FD405E-86FA-400C-9F82-482424AD3FD8}" destId="{6F22813C-D802-4E76-AD7D-F5BEE006A1FD}" srcOrd="0" destOrd="0" parTransId="{92C4C88C-6ECE-4966-A5A7-E6FBC5FEE053}" sibTransId="{4077535F-C8DE-46FB-ABC2-1E7465FC0998}"/>
    <dgm:cxn modelId="{99331C57-751D-485C-B882-BC35DDA6469A}" type="presOf" srcId="{C6DFA6F3-EDAA-479F-98DE-A2F4160FBC2E}" destId="{460563C9-836E-4789-9F45-E780914EC21A}" srcOrd="0" destOrd="0" presId="urn:microsoft.com/office/officeart/2008/layout/BendingPictureCaptionList"/>
    <dgm:cxn modelId="{3F935492-662A-40DB-9648-7057B5239C86}" type="presOf" srcId="{C2FD405E-86FA-400C-9F82-482424AD3FD8}" destId="{C9D5EF52-2461-44BE-BEE5-40572FC66224}" srcOrd="0" destOrd="0" presId="urn:microsoft.com/office/officeart/2008/layout/BendingPictureCaptionList"/>
    <dgm:cxn modelId="{9DEEBA10-9BAA-4D04-A35A-70C91F6A8CB1}" type="presParOf" srcId="{C9D5EF52-2461-44BE-BEE5-40572FC66224}" destId="{1B38B62F-EA64-4B00-B7EF-4864070E118F}" srcOrd="0" destOrd="0" presId="urn:microsoft.com/office/officeart/2008/layout/BendingPictureCaptionList"/>
    <dgm:cxn modelId="{608F4678-31A4-4278-A4D9-16F280350E86}" type="presParOf" srcId="{1B38B62F-EA64-4B00-B7EF-4864070E118F}" destId="{F17EB212-0D99-49FA-A1AB-2A3F4AF95497}" srcOrd="0" destOrd="0" presId="urn:microsoft.com/office/officeart/2008/layout/BendingPictureCaptionList"/>
    <dgm:cxn modelId="{68266A61-6B3C-495C-8E3A-D3A69A323DB1}" type="presParOf" srcId="{1B38B62F-EA64-4B00-B7EF-4864070E118F}" destId="{2AB72EED-59CA-461A-B137-736ED2F65C0D}" srcOrd="1" destOrd="0" presId="urn:microsoft.com/office/officeart/2008/layout/BendingPictureCaptionList"/>
    <dgm:cxn modelId="{F6B2D9D9-55DA-4DF7-8B87-176F115575B8}" type="presParOf" srcId="{C9D5EF52-2461-44BE-BEE5-40572FC66224}" destId="{6A1E0C75-A1C4-4EE5-8425-A4FC8407C645}" srcOrd="1" destOrd="0" presId="urn:microsoft.com/office/officeart/2008/layout/BendingPictureCaptionList"/>
    <dgm:cxn modelId="{D30C42B8-D808-4B5B-A83A-036CF22FDB0E}" type="presParOf" srcId="{C9D5EF52-2461-44BE-BEE5-40572FC66224}" destId="{F89F1E76-0964-4A4F-80CC-D0749F3E2966}" srcOrd="2" destOrd="0" presId="urn:microsoft.com/office/officeart/2008/layout/BendingPictureCaptionList"/>
    <dgm:cxn modelId="{43B3FB48-560C-4C92-8D0C-0E1446049923}" type="presParOf" srcId="{F89F1E76-0964-4A4F-80CC-D0749F3E2966}" destId="{C90447D3-3A8E-4C59-96F0-B8732FD87233}" srcOrd="0" destOrd="0" presId="urn:microsoft.com/office/officeart/2008/layout/BendingPictureCaptionList"/>
    <dgm:cxn modelId="{069215FE-6D30-43E9-B2C9-8D8C2FB96467}" type="presParOf" srcId="{F89F1E76-0964-4A4F-80CC-D0749F3E2966}" destId="{095D6498-985F-4C46-8A5D-4CCAD436E74F}" srcOrd="1" destOrd="0" presId="urn:microsoft.com/office/officeart/2008/layout/BendingPictureCaptionList"/>
    <dgm:cxn modelId="{233C3D43-D2FD-4BAD-8558-7376A3C4E3F1}" type="presParOf" srcId="{C9D5EF52-2461-44BE-BEE5-40572FC66224}" destId="{26D1ACF9-8D21-4FA3-97AC-70B193A965BA}" srcOrd="3" destOrd="0" presId="urn:microsoft.com/office/officeart/2008/layout/BendingPictureCaptionList"/>
    <dgm:cxn modelId="{C79BC1B6-C706-48E8-A756-057BE86E1D55}" type="presParOf" srcId="{C9D5EF52-2461-44BE-BEE5-40572FC66224}" destId="{1E031330-8F19-4E8A-A229-F4DD12558294}" srcOrd="4" destOrd="0" presId="urn:microsoft.com/office/officeart/2008/layout/BendingPictureCaptionList"/>
    <dgm:cxn modelId="{9646D41A-9555-41A7-9E10-4B896894184F}" type="presParOf" srcId="{1E031330-8F19-4E8A-A229-F4DD12558294}" destId="{3D22B7DB-3299-4634-B8BF-B29F1007227A}" srcOrd="0" destOrd="0" presId="urn:microsoft.com/office/officeart/2008/layout/BendingPictureCaptionList"/>
    <dgm:cxn modelId="{D9CE914F-EB57-4A66-8C9C-A730B5499907}" type="presParOf" srcId="{1E031330-8F19-4E8A-A229-F4DD12558294}" destId="{460563C9-836E-4789-9F45-E780914EC21A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7EB212-0D99-49FA-A1AB-2A3F4AF95497}">
      <dsp:nvSpPr>
        <dsp:cNvPr id="0" name=""/>
        <dsp:cNvSpPr/>
      </dsp:nvSpPr>
      <dsp:spPr>
        <a:xfrm>
          <a:off x="0" y="93463"/>
          <a:ext cx="3446859" cy="27574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B72EED-59CA-461A-B137-736ED2F65C0D}">
      <dsp:nvSpPr>
        <dsp:cNvPr id="0" name=""/>
        <dsp:cNvSpPr/>
      </dsp:nvSpPr>
      <dsp:spPr>
        <a:xfrm>
          <a:off x="310217" y="2575202"/>
          <a:ext cx="3067704" cy="965120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Grégoire de Susanne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Chef de projet</a:t>
          </a:r>
        </a:p>
      </dsp:txBody>
      <dsp:txXfrm>
        <a:off x="310217" y="2575202"/>
        <a:ext cx="3067704" cy="965120"/>
      </dsp:txXfrm>
    </dsp:sp>
    <dsp:sp modelId="{C90447D3-3A8E-4C59-96F0-B8732FD87233}">
      <dsp:nvSpPr>
        <dsp:cNvPr id="0" name=""/>
        <dsp:cNvSpPr/>
      </dsp:nvSpPr>
      <dsp:spPr>
        <a:xfrm>
          <a:off x="3791545" y="93463"/>
          <a:ext cx="3446859" cy="2757487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3000" r="-3000"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5D6498-985F-4C46-8A5D-4CCAD436E74F}">
      <dsp:nvSpPr>
        <dsp:cNvPr id="0" name=""/>
        <dsp:cNvSpPr/>
      </dsp:nvSpPr>
      <dsp:spPr>
        <a:xfrm>
          <a:off x="4101762" y="2575202"/>
          <a:ext cx="3067704" cy="965120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Pierre Debas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Lead Développeur</a:t>
          </a:r>
        </a:p>
      </dsp:txBody>
      <dsp:txXfrm>
        <a:off x="4101762" y="2575202"/>
        <a:ext cx="3067704" cy="965120"/>
      </dsp:txXfrm>
    </dsp:sp>
    <dsp:sp modelId="{3D22B7DB-3299-4634-B8BF-B29F1007227A}">
      <dsp:nvSpPr>
        <dsp:cNvPr id="0" name=""/>
        <dsp:cNvSpPr/>
      </dsp:nvSpPr>
      <dsp:spPr>
        <a:xfrm>
          <a:off x="7583090" y="93463"/>
          <a:ext cx="3446859" cy="27574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000" r="-3000"/>
          </a:stretch>
        </a:blip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60563C9-836E-4789-9F45-E780914EC21A}">
      <dsp:nvSpPr>
        <dsp:cNvPr id="0" name=""/>
        <dsp:cNvSpPr/>
      </dsp:nvSpPr>
      <dsp:spPr>
        <a:xfrm>
          <a:off x="7893307" y="2575202"/>
          <a:ext cx="3067704" cy="965120"/>
        </a:xfrm>
        <a:prstGeom prst="wedgeRectCallout">
          <a:avLst>
            <a:gd name="adj1" fmla="val 20250"/>
            <a:gd name="adj2" fmla="val -607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Vincent Rodriguez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Game/UX Designer</a:t>
          </a:r>
        </a:p>
      </dsp:txBody>
      <dsp:txXfrm>
        <a:off x="7893307" y="2575202"/>
        <a:ext cx="3067704" cy="965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D3D83-B717-49DE-9DDA-1D68E79C5C69}" type="datetimeFigureOut">
              <a:rPr lang="fr-FR" smtClean="0"/>
              <a:t>31/05/2024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6E83C7-A3D4-49FF-8DEB-FBF67FEE67B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50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Les chats doivent dominer le monde</a:t>
            </a:r>
          </a:p>
          <a:p>
            <a:r>
              <a:rPr lang="fr-FR" dirty="0"/>
              <a:t>Faire un jeu de promotion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E83C7-A3D4-49FF-8DEB-FBF67FEE67BC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50445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Structures de données</a:t>
            </a:r>
          </a:p>
          <a:p>
            <a:r>
              <a:rPr lang="fr-FR" dirty="0"/>
              <a:t>Externalisation avec scriptables </a:t>
            </a:r>
            <a:r>
              <a:rPr lang="fr-FR" dirty="0" err="1"/>
              <a:t>Objects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E83C7-A3D4-49FF-8DEB-FBF67FEE67B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2410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Marge initiale : 37%</a:t>
            </a:r>
          </a:p>
          <a:p>
            <a:r>
              <a:rPr lang="fr-FR" dirty="0"/>
              <a:t>Marge finale : 30%</a:t>
            </a:r>
          </a:p>
          <a:p>
            <a:r>
              <a:rPr lang="fr-FR" dirty="0"/>
              <a:t>44h par personne</a:t>
            </a:r>
          </a:p>
          <a:p>
            <a:r>
              <a:rPr lang="fr-FR" dirty="0"/>
              <a:t>Un mois complet avec les 150h = 19000</a:t>
            </a:r>
          </a:p>
          <a:p>
            <a:r>
              <a:rPr lang="fr-FR" dirty="0"/>
              <a:t>Charges entreprise par personne et par mois : 721,70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6E83C7-A3D4-49FF-8DEB-FBF67FEE67B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97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5/31/2024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492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5/31/2024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5/31/2024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576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5/31/2024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923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5/31/2024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571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5/31/2024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870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5/31/2024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08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5/31/2024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693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5/31/2024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98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5/31/2024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3279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5/31/2024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836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5/31/2024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23832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44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2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hyperlink" Target="https://cataclysm.rodriguez-vincent.fr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B82883-1DC0-4BE1-A607-009095F33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éo 3" descr="Clignement d’yeux animés">
            <a:extLst>
              <a:ext uri="{FF2B5EF4-FFF2-40B4-BE49-F238E27FC236}">
                <a16:creationId xmlns:a16="http://schemas.microsoft.com/office/drawing/2014/main" id="{DA56A91D-C119-C12C-639B-BE05FBC7D6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-1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FA98EAA-A866-4C95-A2A8-44E46FBAD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" y="4530071"/>
            <a:ext cx="12191999" cy="2327926"/>
          </a:xfrm>
          <a:prstGeom prst="rect">
            <a:avLst/>
          </a:prstGeom>
          <a:gradFill flip="none" rotWithShape="1">
            <a:gsLst>
              <a:gs pos="56000">
                <a:schemeClr val="tx1">
                  <a:alpha val="39000"/>
                </a:schemeClr>
              </a:gs>
              <a:gs pos="100000">
                <a:schemeClr val="tx1">
                  <a:alpha val="80000"/>
                </a:schemeClr>
              </a:gs>
              <a:gs pos="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C9BA99C-200F-5ADE-93B9-9FF5A85D2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6017" y="2834434"/>
            <a:ext cx="8782304" cy="1087326"/>
          </a:xfrm>
          <a:solidFill>
            <a:schemeClr val="tx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b">
            <a:normAutofit/>
          </a:bodyPr>
          <a:lstStyle/>
          <a:p>
            <a:pPr algn="ctr"/>
            <a:r>
              <a:rPr lang="fr-FR" sz="4000" dirty="0">
                <a:solidFill>
                  <a:schemeClr val="accent1"/>
                </a:solidFill>
              </a:rPr>
              <a:t>Cats, la mascarade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AF47449-C2D3-DB28-FD62-3A8DC3E9C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5738" y="3921760"/>
            <a:ext cx="6960524" cy="985520"/>
          </a:xfrm>
          <a:solidFill>
            <a:schemeClr val="tx1"/>
          </a:solidFill>
          <a:ln>
            <a:solidFill>
              <a:schemeClr val="accent1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t">
            <a:normAutofit/>
          </a:bodyPr>
          <a:lstStyle/>
          <a:p>
            <a:pPr algn="ctr"/>
            <a:r>
              <a:rPr lang="fr-FR" sz="2000" dirty="0">
                <a:solidFill>
                  <a:schemeClr val="bg1"/>
                </a:solidFill>
              </a:rPr>
              <a:t>Par </a:t>
            </a:r>
            <a:r>
              <a:rPr lang="fr-FR" sz="2000" dirty="0" err="1">
                <a:solidFill>
                  <a:schemeClr val="bg1"/>
                </a:solidFill>
              </a:rPr>
              <a:t>Cat_Aclysm</a:t>
            </a:r>
            <a:endParaRPr lang="fr-FR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749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7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C942D4-657E-5E56-D609-C31091ECD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de l’équipe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24F1BFC3-AC05-2C0A-CAD4-28E5FBEDEC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812832"/>
              </p:ext>
            </p:extLst>
          </p:nvPr>
        </p:nvGraphicFramePr>
        <p:xfrm>
          <a:off x="581025" y="2341563"/>
          <a:ext cx="11029950" cy="3633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5BE54846-1B2D-FD20-96AE-DD4354370C7B}"/>
              </a:ext>
            </a:extLst>
          </p:cNvPr>
          <p:cNvSpPr txBox="1"/>
          <p:nvPr/>
        </p:nvSpPr>
        <p:spPr>
          <a:xfrm>
            <a:off x="3638681" y="6192695"/>
            <a:ext cx="479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fr-FR" sz="2800" b="1" dirty="0">
                <a:solidFill>
                  <a:schemeClr val="accent1"/>
                </a:solidFill>
              </a:rPr>
              <a:t>Nos régions ont du talent</a:t>
            </a:r>
          </a:p>
        </p:txBody>
      </p:sp>
    </p:spTree>
    <p:extLst>
      <p:ext uri="{BB962C8B-B14F-4D97-AF65-F5344CB8AC3E}">
        <p14:creationId xmlns:p14="http://schemas.microsoft.com/office/powerpoint/2010/main" val="21728697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6D8BA74-0F2C-D2FD-E8B4-BCADBAF7B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0" y="863695"/>
            <a:ext cx="3511233" cy="377999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Jeu de rôle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0034024-041C-3D24-B8C1-84A66CE9A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-316" t="7761" r="318" b="15784"/>
          <a:stretch/>
        </p:blipFill>
        <p:spPr>
          <a:xfrm>
            <a:off x="5105849" y="-18130"/>
            <a:ext cx="7086151" cy="687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521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751CB9-7B25-4EB8-9A6F-82F822549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317383-CF3B-4B02-9512-BECBEF636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D4C7A0-6DF2-4F2D-A45D-F111582974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F3943D-BCB6-4B31-809D-A00568648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373A6F-2E1F-4613-8E1D-D68057D29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01200"/>
            <a:ext cx="3707477" cy="562497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D391D9F-1FE9-018E-9A17-E56B831FB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55" y="702155"/>
            <a:ext cx="3409783" cy="1300365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307668-50CB-3EF5-BA06-EE9E39FAE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255" y="2177142"/>
            <a:ext cx="3409782" cy="3823607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Lancer de dés</a:t>
            </a:r>
          </a:p>
          <a:p>
            <a:r>
              <a:rPr lang="fr-FR">
                <a:solidFill>
                  <a:srgbClr val="FFFFFF"/>
                </a:solidFill>
              </a:rPr>
              <a:t>Création du personnage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Caractéristiques de base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Choix de la race du chat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Qualités et défauts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Compétences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Talents</a:t>
            </a:r>
          </a:p>
          <a:p>
            <a:pPr lvl="1"/>
            <a:endParaRPr lang="fr-FR">
              <a:solidFill>
                <a:srgbClr val="FFFFFF"/>
              </a:solidFill>
            </a:endParaRPr>
          </a:p>
        </p:txBody>
      </p:sp>
      <p:pic>
        <p:nvPicPr>
          <p:cNvPr id="7" name="Graphic 6" descr="Chat">
            <a:extLst>
              <a:ext uri="{FF2B5EF4-FFF2-40B4-BE49-F238E27FC236}">
                <a16:creationId xmlns:a16="http://schemas.microsoft.com/office/drawing/2014/main" id="{08D96B5B-B1AF-38CE-DC98-627743074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3830" y="936141"/>
            <a:ext cx="4968305" cy="496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5517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524398-BFB4-4C4A-8317-83B8729F9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8D4B6A-8113-4DFB-B82E-B60CAC8E0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22E561-F97C-4CBB-A9A6-A6BF6317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6C77358-78FC-505A-9AFB-8BB2E387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620" y="863695"/>
            <a:ext cx="3511233" cy="377999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Budget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1B0E58-A5C8-4CDA-A2E0-35DF94E59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620" y="457200"/>
            <a:ext cx="3511233" cy="9143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5" name="Picture 4" descr="Desk with productivity items">
            <a:extLst>
              <a:ext uri="{FF2B5EF4-FFF2-40B4-BE49-F238E27FC236}">
                <a16:creationId xmlns:a16="http://schemas.microsoft.com/office/drawing/2014/main" id="{14F6C211-B8A8-9715-8564-C11F132EE9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941" r="5692" b="-1"/>
          <a:stretch/>
        </p:blipFill>
        <p:spPr>
          <a:xfrm>
            <a:off x="4654295" y="10"/>
            <a:ext cx="753770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09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Espace réservé du contenu 8">
            <a:extLst>
              <a:ext uri="{FF2B5EF4-FFF2-40B4-BE49-F238E27FC236}">
                <a16:creationId xmlns:a16="http://schemas.microsoft.com/office/drawing/2014/main" id="{B48198BA-58B1-9459-0CCE-2CB686720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85840"/>
              </p:ext>
            </p:extLst>
          </p:nvPr>
        </p:nvGraphicFramePr>
        <p:xfrm>
          <a:off x="581025" y="2341563"/>
          <a:ext cx="4949825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Espace réservé du contenu 8">
            <a:extLst>
              <a:ext uri="{FF2B5EF4-FFF2-40B4-BE49-F238E27FC236}">
                <a16:creationId xmlns:a16="http://schemas.microsoft.com/office/drawing/2014/main" id="{B4AA3366-1123-1ABC-3691-BD3833C3C4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579543"/>
              </p:ext>
            </p:extLst>
          </p:nvPr>
        </p:nvGraphicFramePr>
        <p:xfrm>
          <a:off x="6550418" y="2341563"/>
          <a:ext cx="4949825" cy="3633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8FCC27F7-AB42-A0DB-F73F-FFAEF255367B}"/>
              </a:ext>
            </a:extLst>
          </p:cNvPr>
          <p:cNvSpPr txBox="1"/>
          <p:nvPr/>
        </p:nvSpPr>
        <p:spPr>
          <a:xfrm>
            <a:off x="1470505" y="6120186"/>
            <a:ext cx="3170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1"/>
                </a:solidFill>
              </a:rPr>
              <a:t>3800€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7A6D304-7A20-A899-F434-260F4F0413D1}"/>
              </a:ext>
            </a:extLst>
          </p:cNvPr>
          <p:cNvSpPr txBox="1"/>
          <p:nvPr/>
        </p:nvSpPr>
        <p:spPr>
          <a:xfrm>
            <a:off x="7439898" y="6045575"/>
            <a:ext cx="3170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chemeClr val="accent1"/>
                </a:solidFill>
              </a:rPr>
              <a:t>4184€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D1473A0-CB25-7D23-C072-F0BD6EBB3710}"/>
              </a:ext>
            </a:extLst>
          </p:cNvPr>
          <p:cNvSpPr txBox="1"/>
          <p:nvPr/>
        </p:nvSpPr>
        <p:spPr>
          <a:xfrm>
            <a:off x="4517008" y="945931"/>
            <a:ext cx="3157984" cy="369332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dirty="0"/>
              <a:t>Prix de vente : 6000€</a:t>
            </a:r>
          </a:p>
        </p:txBody>
      </p:sp>
    </p:spTree>
    <p:extLst>
      <p:ext uri="{BB962C8B-B14F-4D97-AF65-F5344CB8AC3E}">
        <p14:creationId xmlns:p14="http://schemas.microsoft.com/office/powerpoint/2010/main" val="4089480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  <p:bldGraphic spid="10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BB56EB9-078F-4952-AC1F-149C7A0A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772EE4-ED5E-4D3A-A306-B22CF8667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601200"/>
            <a:ext cx="3703320" cy="578936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4F67FE5-BDD7-907A-EEF3-061146A41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280" y="944752"/>
            <a:ext cx="3259016" cy="1462692"/>
          </a:xfrm>
        </p:spPr>
        <p:txBody>
          <a:bodyPr>
            <a:normAutofit/>
          </a:bodyPr>
          <a:lstStyle/>
          <a:p>
            <a:r>
              <a:rPr lang="fr-FR" sz="3400">
                <a:solidFill>
                  <a:srgbClr val="FFFFFF"/>
                </a:solidFill>
              </a:rPr>
              <a:t>Améliorations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058680-D07C-4893-B2B7-91543F18A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42427A-0A1F-4A55-8705-D9179F1E0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54A6FE-D8CB-48A3-900B-053D4EBD3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7FFCA8-2D02-C401-3E5A-71D63C1CB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513" y="2536031"/>
            <a:ext cx="3123783" cy="3671936"/>
          </a:xfrm>
        </p:spPr>
        <p:txBody>
          <a:bodyPr anchor="t"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Partie Gameplay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Interaction, déplacements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Inventaires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Combat tps réel</a:t>
            </a:r>
          </a:p>
          <a:p>
            <a:r>
              <a:rPr lang="fr-FR">
                <a:solidFill>
                  <a:srgbClr val="FFFFFF"/>
                </a:solidFill>
              </a:rPr>
              <a:t>UX création personnage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Création du nom de perso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Images choix de race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Tir de dé implémenté</a:t>
            </a:r>
          </a:p>
        </p:txBody>
      </p:sp>
      <p:pic>
        <p:nvPicPr>
          <p:cNvPr id="5" name="Image 4" descr="Une image contenant chat, mammifère, Chats petite et moyenne taille, Moustaches&#10;&#10;Description générée automatiquement">
            <a:extLst>
              <a:ext uri="{FF2B5EF4-FFF2-40B4-BE49-F238E27FC236}">
                <a16:creationId xmlns:a16="http://schemas.microsoft.com/office/drawing/2014/main" id="{AB2F0404-B8A3-9134-19D8-82FC536A83A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" r="1" b="1"/>
          <a:stretch/>
        </p:blipFill>
        <p:spPr>
          <a:xfrm>
            <a:off x="4241830" y="601200"/>
            <a:ext cx="7503636" cy="5789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183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DD651B61-325E-4E73-8445-38B0DE8AA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B42E5253-D3AC-4AC2-B766-8B34F13C2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10AE8D57-436A-4073-9A75-15BB5949F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E2852671-8EB6-4EAF-8AF8-65CF3FD664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A52FF1B8-145F-47AA-9F6F-7DA3201AA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9DAE7B8-30C0-089D-2B03-96C7F1012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9243" y="1419225"/>
            <a:ext cx="6798608" cy="2346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Merci de votre écoute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7AEA801-248E-2CD9-4CBD-0024574B4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9243" y="3829878"/>
            <a:ext cx="6798608" cy="140887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0" i="0" kern="1200" cap="all">
                <a:solidFill>
                  <a:schemeClr val="accent1"/>
                </a:solidFill>
                <a:effectLst/>
                <a:latin typeface="+mn-lt"/>
                <a:ea typeface="+mn-ea"/>
                <a:cs typeface="+mn-cs"/>
                <a:hlinkClick r:id="rId2" tooltip="https://cataclysm.rodriguez-vincent.fr/index.html"/>
              </a:rPr>
              <a:t>https://cataclysm.rodriguez-vincent.fr/index.html</a:t>
            </a:r>
            <a:endParaRPr lang="en-US" sz="2000" b="0" i="0" kern="1200" cap="all">
              <a:solidFill>
                <a:schemeClr val="accent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DFE8A8C-8C1F-40A1-8A45-9D05B0DD8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EE1EF8C3-8F8A-447D-A5FF-C12426825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45" name="Rectangle 1044">
            <a:extLst>
              <a:ext uri="{FF2B5EF4-FFF2-40B4-BE49-F238E27FC236}">
                <a16:creationId xmlns:a16="http://schemas.microsoft.com/office/drawing/2014/main" id="{1B511BAF-6DC3-420A-8603-96945C66A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026" name="Picture 2" descr="Big Mouth Cat GIF Big Mouth Cat Discover Share GIFs">
            <a:extLst>
              <a:ext uri="{FF2B5EF4-FFF2-40B4-BE49-F238E27FC236}">
                <a16:creationId xmlns:a16="http://schemas.microsoft.com/office/drawing/2014/main" id="{1370AEEC-CB01-92F7-1DEA-3100C5F40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4700" y="2049354"/>
            <a:ext cx="3053422" cy="3053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FA1EE25-F727-7C2A-F64C-A27044541E94}"/>
              </a:ext>
            </a:extLst>
          </p:cNvPr>
          <p:cNvSpPr txBox="1"/>
          <p:nvPr/>
        </p:nvSpPr>
        <p:spPr>
          <a:xfrm>
            <a:off x="3047163" y="3246846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</p:txBody>
      </p:sp>
      <p:pic>
        <p:nvPicPr>
          <p:cNvPr id="7" name="Image 6" descr="Une image contenant origami&#10;&#10;Description générée automatiquement">
            <a:extLst>
              <a:ext uri="{FF2B5EF4-FFF2-40B4-BE49-F238E27FC236}">
                <a16:creationId xmlns:a16="http://schemas.microsoft.com/office/drawing/2014/main" id="{CD2C42F6-D43F-201E-6FCF-6A15633CFB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38627" y1="49630" x2="41631" y2="51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111479">
            <a:off x="7190726" y="3925654"/>
            <a:ext cx="6137886" cy="3556286"/>
          </a:xfrm>
          <a:prstGeom prst="rect">
            <a:avLst/>
          </a:prstGeom>
        </p:spPr>
      </p:pic>
      <p:pic>
        <p:nvPicPr>
          <p:cNvPr id="9" name="Image 8" descr="Une image contenant Carmin, origami&#10;&#10;Description générée automatiquement">
            <a:extLst>
              <a:ext uri="{FF2B5EF4-FFF2-40B4-BE49-F238E27FC236}">
                <a16:creationId xmlns:a16="http://schemas.microsoft.com/office/drawing/2014/main" id="{96A0F05B-51A4-D456-8BA2-BB4D37CBE2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74602">
            <a:off x="4063573" y="5223659"/>
            <a:ext cx="29718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748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AnalogousFromRegularSeed_2SEEDS">
      <a:dk1>
        <a:srgbClr val="000000"/>
      </a:dk1>
      <a:lt1>
        <a:srgbClr val="FFFFFF"/>
      </a:lt1>
      <a:dk2>
        <a:srgbClr val="321C1C"/>
      </a:dk2>
      <a:lt2>
        <a:srgbClr val="F0F1F3"/>
      </a:lt2>
      <a:accent1>
        <a:srgbClr val="C89B16"/>
      </a:accent1>
      <a:accent2>
        <a:srgbClr val="E76929"/>
      </a:accent2>
      <a:accent3>
        <a:srgbClr val="93AA1E"/>
      </a:accent3>
      <a:accent4>
        <a:srgbClr val="5C20D7"/>
      </a:accent4>
      <a:accent5>
        <a:srgbClr val="B629E7"/>
      </a:accent5>
      <a:accent6>
        <a:srgbClr val="D517B7"/>
      </a:accent6>
      <a:hlink>
        <a:srgbClr val="3F5FBF"/>
      </a:hlink>
      <a:folHlink>
        <a:srgbClr val="7F7F7F"/>
      </a:folHlink>
    </a:clrScheme>
    <a:fontScheme name="Dividend">
      <a:majorFont>
        <a:latin typeface="Univers Condensed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Univers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163</Words>
  <Application>Microsoft Office PowerPoint</Application>
  <PresentationFormat>Grand écran</PresentationFormat>
  <Paragraphs>48</Paragraphs>
  <Slides>8</Slides>
  <Notes>3</Notes>
  <HiddenSlides>0</HiddenSlides>
  <MMClips>1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Aptos</vt:lpstr>
      <vt:lpstr>Gill Sans MT</vt:lpstr>
      <vt:lpstr>Univers</vt:lpstr>
      <vt:lpstr>Univers Condensed</vt:lpstr>
      <vt:lpstr>Wingdings 2</vt:lpstr>
      <vt:lpstr>DividendVTI</vt:lpstr>
      <vt:lpstr>Cats, la mascarade</vt:lpstr>
      <vt:lpstr>Présentation de l’équipe</vt:lpstr>
      <vt:lpstr>Jeu de rôle</vt:lpstr>
      <vt:lpstr>Features</vt:lpstr>
      <vt:lpstr>Budget</vt:lpstr>
      <vt:lpstr>Présentation PowerPoint</vt:lpstr>
      <vt:lpstr>Améliorations</vt:lpstr>
      <vt:lpstr>Merci de votre écoute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Cat_Aclysm</dc:title>
  <dc:creator>Grégoire de susanne</dc:creator>
  <cp:lastModifiedBy>Grégoire de susanne</cp:lastModifiedBy>
  <cp:revision>7</cp:revision>
  <dcterms:created xsi:type="dcterms:W3CDTF">2024-05-31T07:19:42Z</dcterms:created>
  <dcterms:modified xsi:type="dcterms:W3CDTF">2024-05-31T13:23:06Z</dcterms:modified>
</cp:coreProperties>
</file>